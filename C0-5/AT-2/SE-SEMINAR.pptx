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7"/>
  </p:notesMasterIdLst>
  <p:handoutMasterIdLst>
    <p:handoutMasterId r:id="rId18"/>
  </p:handoutMasterIdLst>
  <p:sldIdLst>
    <p:sldId id="312" r:id="rId5"/>
    <p:sldId id="304" r:id="rId6"/>
    <p:sldId id="307" r:id="rId7"/>
    <p:sldId id="281" r:id="rId8"/>
    <p:sldId id="282" r:id="rId9"/>
    <p:sldId id="314" r:id="rId10"/>
    <p:sldId id="315" r:id="rId11"/>
    <p:sldId id="317" r:id="rId12"/>
    <p:sldId id="318" r:id="rId13"/>
    <p:sldId id="321" r:id="rId14"/>
    <p:sldId id="322" r:id="rId15"/>
    <p:sldId id="297" r:id="rId1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98C1D1-7703-4607-9D4A-ED2012EF1EEE}" v="16" dt="2026-08-21T03:25:43.69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388" autoAdjust="0"/>
  </p:normalViewPr>
  <p:slideViewPr>
    <p:cSldViewPr snapToGrid="0" snapToObjects="1">
      <p:cViewPr varScale="1">
        <p:scale>
          <a:sx n="91" d="100"/>
          <a:sy n="91" d="100"/>
        </p:scale>
        <p:origin x="322" y="6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Explainable and</a:t>
            </a:r>
            <a:br>
              <a:rPr lang="en-US" dirty="0"/>
            </a:br>
            <a:r>
              <a:rPr lang="en-US" dirty="0"/>
              <a:t>TRUSTWORTHY AI</a:t>
            </a:r>
          </a:p>
        </p:txBody>
      </p:sp>
      <p:sp>
        <p:nvSpPr>
          <p:cNvPr id="3" name="Title 1">
            <a:extLst>
              <a:ext uri="{FF2B5EF4-FFF2-40B4-BE49-F238E27FC236}">
                <a16:creationId xmlns:a16="http://schemas.microsoft.com/office/drawing/2014/main" id="{C5EC37CA-8BA8-3D28-9D00-416CF55D5A53}"/>
              </a:ext>
            </a:extLst>
          </p:cNvPr>
          <p:cNvSpPr txBox="1">
            <a:spLocks/>
          </p:cNvSpPr>
          <p:nvPr/>
        </p:nvSpPr>
        <p:spPr>
          <a:xfrm>
            <a:off x="6248400" y="3026779"/>
            <a:ext cx="6392421" cy="3831221"/>
          </a:xfrm>
          <a:prstGeom prst="rect">
            <a:avLst/>
          </a:prstGeom>
        </p:spPr>
        <p:txBody>
          <a:bodyPr vert="horz" lIns="91440" tIns="0" rIns="91440" bIns="0" rtlCol="0" anchor="ctr"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bg1"/>
                </a:solidFill>
              </a:rPr>
              <a:t>PRESENTED BY:</a:t>
            </a:r>
          </a:p>
          <a:p>
            <a:r>
              <a:rPr lang="en-US" dirty="0"/>
              <a:t>V</a:t>
            </a:r>
            <a:r>
              <a:rPr lang="en-US" dirty="0">
                <a:solidFill>
                  <a:schemeClr val="bg1"/>
                </a:solidFill>
              </a:rPr>
              <a:t>V.TEJASWINI</a:t>
            </a: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816016"/>
            <a:ext cx="6583680" cy="1772615"/>
          </a:xfrm>
        </p:spPr>
        <p:txBody>
          <a:bodyPr/>
          <a:lstStyle/>
          <a:p>
            <a:r>
              <a:rPr lang="en-US" dirty="0">
                <a:latin typeface="Times New Roman" panose="02020603050405020304" pitchFamily="18" charset="0"/>
                <a:cs typeface="Times New Roman" panose="02020603050405020304" pitchFamily="18" charset="0"/>
              </a:rPr>
              <a:t>INTRODUCTION TO EMERGING TECHNOLOGY</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fontScale="92500"/>
          </a:bodyPr>
          <a:lstStyle/>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Explainable AI (XAI)</a:t>
            </a:r>
            <a:r>
              <a:rPr lang="en-IN" dirty="0">
                <a:latin typeface="Times New Roman" panose="02020603050405020304" pitchFamily="18" charset="0"/>
                <a:cs typeface="Times New Roman" panose="02020603050405020304" pitchFamily="18" charset="0"/>
              </a:rPr>
              <a:t> explains how and why an AI system makes decisions.</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Trustworthy AI</a:t>
            </a:r>
            <a:r>
              <a:rPr lang="en-IN" dirty="0">
                <a:latin typeface="Times New Roman" panose="02020603050405020304" pitchFamily="18" charset="0"/>
                <a:cs typeface="Times New Roman" panose="02020603050405020304" pitchFamily="18" charset="0"/>
              </a:rPr>
              <a:t> is designed to be fair, safe, reliable, and transparent.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protects </a:t>
            </a:r>
            <a:r>
              <a:rPr lang="en-IN" b="1" dirty="0">
                <a:latin typeface="Times New Roman" panose="02020603050405020304" pitchFamily="18" charset="0"/>
                <a:cs typeface="Times New Roman" panose="02020603050405020304" pitchFamily="18" charset="0"/>
              </a:rPr>
              <a:t>privacy</a:t>
            </a:r>
            <a:r>
              <a:rPr lang="en-IN" dirty="0">
                <a:latin typeface="Times New Roman" panose="02020603050405020304" pitchFamily="18" charset="0"/>
                <a:cs typeface="Times New Roman" panose="02020603050405020304" pitchFamily="18" charset="0"/>
              </a:rPr>
              <a:t> and reduces bias in AI decisions.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helps people </a:t>
            </a:r>
            <a:r>
              <a:rPr lang="en-IN" b="1" dirty="0">
                <a:latin typeface="Times New Roman" panose="02020603050405020304" pitchFamily="18" charset="0"/>
                <a:cs typeface="Times New Roman" panose="02020603050405020304" pitchFamily="18" charset="0"/>
              </a:rPr>
              <a:t>understand and trust AI systems</a:t>
            </a:r>
            <a:r>
              <a:rPr lang="en-IN" dirty="0">
                <a:latin typeface="Times New Roman" panose="02020603050405020304" pitchFamily="18"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133801" y="2105636"/>
            <a:ext cx="9924398" cy="4022261"/>
          </a:xfrm>
        </p:spPr>
        <p:txBody>
          <a:bodyPr/>
          <a:lstStyle/>
          <a:p>
            <a:r>
              <a:rPr lang="en-US" dirty="0">
                <a:latin typeface="Times New Roman" panose="02020603050405020304" pitchFamily="18" charset="0"/>
                <a:cs typeface="Times New Roman" panose="02020603050405020304" pitchFamily="18" charset="0"/>
              </a:rPr>
              <a:t>        need AND MOTIVATION</a:t>
            </a:r>
            <a:br>
              <a:rPr lang="en-US" dirty="0"/>
            </a:br>
            <a:br>
              <a:rPr lang="en-US" cap="none" dirty="0"/>
            </a:br>
            <a:r>
              <a:rPr lang="en-IN" sz="2400" cap="none" dirty="0">
                <a:latin typeface="Times New Roman" panose="02020603050405020304" pitchFamily="18" charset="0"/>
                <a:cs typeface="Times New Roman" panose="02020603050405020304" pitchFamily="18" charset="0"/>
              </a:rPr>
              <a:t>to make ai decisions easy to understand and trust.</a:t>
            </a:r>
            <a:br>
              <a:rPr lang="en-IN" sz="2400" cap="none" dirty="0">
                <a:latin typeface="Times New Roman" panose="02020603050405020304" pitchFamily="18" charset="0"/>
                <a:cs typeface="Times New Roman" panose="02020603050405020304" pitchFamily="18" charset="0"/>
              </a:rPr>
            </a:br>
            <a:br>
              <a:rPr lang="en-IN" sz="2400" cap="none" dirty="0">
                <a:latin typeface="Times New Roman" panose="02020603050405020304" pitchFamily="18" charset="0"/>
                <a:cs typeface="Times New Roman" panose="02020603050405020304" pitchFamily="18" charset="0"/>
              </a:rPr>
            </a:br>
            <a:r>
              <a:rPr lang="en-IN" sz="2400" cap="none" dirty="0">
                <a:latin typeface="Times New Roman" panose="02020603050405020304" pitchFamily="18" charset="0"/>
                <a:cs typeface="Times New Roman" panose="02020603050405020304" pitchFamily="18" charset="0"/>
              </a:rPr>
              <a:t>to reduce bias, errors, and unfair decisions.</a:t>
            </a:r>
            <a:br>
              <a:rPr lang="en-IN" sz="2400" cap="none" dirty="0">
                <a:latin typeface="Times New Roman" panose="02020603050405020304" pitchFamily="18" charset="0"/>
                <a:cs typeface="Times New Roman" panose="02020603050405020304" pitchFamily="18" charset="0"/>
              </a:rPr>
            </a:br>
            <a:br>
              <a:rPr lang="en-IN" sz="2400" cap="none" dirty="0">
                <a:latin typeface="Times New Roman" panose="02020603050405020304" pitchFamily="18" charset="0"/>
                <a:cs typeface="Times New Roman" panose="02020603050405020304" pitchFamily="18" charset="0"/>
              </a:rPr>
            </a:br>
            <a:r>
              <a:rPr lang="en-IN" sz="2400" cap="none" dirty="0">
                <a:latin typeface="Times New Roman" panose="02020603050405020304" pitchFamily="18" charset="0"/>
                <a:cs typeface="Times New Roman" panose="02020603050405020304" pitchFamily="18" charset="0"/>
              </a:rPr>
              <a:t>to ensure privacy, safety, and security of users.</a:t>
            </a:r>
            <a:br>
              <a:rPr lang="en-IN" sz="2400" cap="none" dirty="0">
                <a:latin typeface="Times New Roman" panose="02020603050405020304" pitchFamily="18" charset="0"/>
                <a:cs typeface="Times New Roman" panose="02020603050405020304" pitchFamily="18" charset="0"/>
              </a:rPr>
            </a:br>
            <a:br>
              <a:rPr lang="en-IN" sz="2400" cap="none" dirty="0">
                <a:latin typeface="Times New Roman" panose="02020603050405020304" pitchFamily="18" charset="0"/>
                <a:cs typeface="Times New Roman" panose="02020603050405020304" pitchFamily="18" charset="0"/>
              </a:rPr>
            </a:br>
            <a:r>
              <a:rPr lang="en-IN" sz="2400" cap="none" dirty="0">
                <a:latin typeface="Times New Roman" panose="02020603050405020304" pitchFamily="18" charset="0"/>
                <a:cs typeface="Times New Roman" panose="02020603050405020304" pitchFamily="18" charset="0"/>
              </a:rPr>
              <a:t>to increase confidence and acceptance of ai systems.</a:t>
            </a:r>
            <a:br>
              <a:rPr lang="en-IN" sz="2400" dirty="0">
                <a:latin typeface="Times New Roman" panose="02020603050405020304" pitchFamily="18" charset="0"/>
                <a:cs typeface="Times New Roman" panose="02020603050405020304" pitchFamily="18" charset="0"/>
              </a:rPr>
            </a:br>
            <a:br>
              <a:rPr lang="en-US" dirty="0"/>
            </a:br>
            <a:br>
              <a:rPr lang="en-US" dirty="0"/>
            </a:br>
            <a:br>
              <a:rPr lang="en-US" dirty="0"/>
            </a:br>
            <a:endParaRPr lang="en-US"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466223" y="-1247514"/>
            <a:ext cx="5259554" cy="2495028"/>
          </a:xfrm>
        </p:spPr>
        <p:txBody>
          <a:bodyPr/>
          <a:lstStyle/>
          <a:p>
            <a:r>
              <a:rPr lang="en-US" dirty="0"/>
              <a:t>WORKIN PRINCIPLE</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1440111" y="2072229"/>
            <a:ext cx="8925886" cy="2233233"/>
          </a:xfrm>
        </p:spPr>
        <p:txBody>
          <a:bodyPr>
            <a:normAutofit fontScale="25000" lnSpcReduction="20000"/>
          </a:bodyPr>
          <a:lstStyle/>
          <a:p>
            <a:pPr marL="1143000" lvl="0" indent="-11430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Data Collection:</a:t>
            </a:r>
            <a:r>
              <a:rPr lang="en-IN" sz="8000" dirty="0">
                <a:latin typeface="Times New Roman" panose="02020603050405020304" pitchFamily="18" charset="0"/>
                <a:cs typeface="Times New Roman" panose="02020603050405020304" pitchFamily="18" charset="0"/>
              </a:rPr>
              <a:t> The AI system collects relevant data from reliable sources.</a:t>
            </a:r>
          </a:p>
          <a:p>
            <a:pPr lvl="0"/>
            <a:r>
              <a:rPr lang="en-IN" sz="8000" dirty="0">
                <a:latin typeface="Times New Roman" panose="02020603050405020304" pitchFamily="18" charset="0"/>
                <a:cs typeface="Times New Roman" panose="02020603050405020304" pitchFamily="18" charset="0"/>
              </a:rPr>
              <a:t> </a:t>
            </a:r>
          </a:p>
          <a:p>
            <a:pPr marL="1143000" lvl="0" indent="-11430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Data Processing:</a:t>
            </a:r>
            <a:r>
              <a:rPr lang="en-IN" sz="8000" dirty="0">
                <a:latin typeface="Times New Roman" panose="02020603050405020304" pitchFamily="18" charset="0"/>
                <a:cs typeface="Times New Roman" panose="02020603050405020304" pitchFamily="18" charset="0"/>
              </a:rPr>
              <a:t> The collected data is cleaned and processed to remove errors and unnecessary information. </a:t>
            </a:r>
          </a:p>
          <a:p>
            <a:pPr lvl="0"/>
            <a:endParaRPr lang="en-IN" sz="80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AI Model Training:</a:t>
            </a:r>
            <a:r>
              <a:rPr lang="en-IN" sz="8000" dirty="0">
                <a:latin typeface="Times New Roman" panose="02020603050405020304" pitchFamily="18" charset="0"/>
                <a:cs typeface="Times New Roman" panose="02020603050405020304" pitchFamily="18" charset="0"/>
              </a:rPr>
              <a:t> The AI model learns patterns from the processed data and develops the ability to make predictions or decisions. </a:t>
            </a:r>
          </a:p>
          <a:p>
            <a:pPr lvl="0"/>
            <a:endParaRPr lang="en-IN" sz="80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Decision Making:</a:t>
            </a:r>
            <a:r>
              <a:rPr lang="en-IN" sz="8000" dirty="0">
                <a:latin typeface="Times New Roman" panose="02020603050405020304" pitchFamily="18" charset="0"/>
                <a:cs typeface="Times New Roman" panose="02020603050405020304" pitchFamily="18" charset="0"/>
              </a:rPr>
              <a:t> The trained model </a:t>
            </a:r>
            <a:r>
              <a:rPr lang="en-IN" sz="8000" dirty="0" err="1">
                <a:latin typeface="Times New Roman" panose="02020603050405020304" pitchFamily="18" charset="0"/>
                <a:cs typeface="Times New Roman" panose="02020603050405020304" pitchFamily="18" charset="0"/>
              </a:rPr>
              <a:t>analyes</a:t>
            </a:r>
            <a:r>
              <a:rPr lang="en-IN" sz="8000" dirty="0">
                <a:latin typeface="Times New Roman" panose="02020603050405020304" pitchFamily="18" charset="0"/>
                <a:cs typeface="Times New Roman" panose="02020603050405020304" pitchFamily="18" charset="0"/>
              </a:rPr>
              <a:t> new input data and produces a prediction or decision. </a:t>
            </a:r>
          </a:p>
          <a:p>
            <a:pPr lvl="0"/>
            <a:endParaRPr lang="en-IN" sz="80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Explanation:</a:t>
            </a:r>
            <a:r>
              <a:rPr lang="en-IN" sz="8000" dirty="0">
                <a:latin typeface="Times New Roman" panose="02020603050405020304" pitchFamily="18" charset="0"/>
                <a:cs typeface="Times New Roman" panose="02020603050405020304" pitchFamily="18" charset="0"/>
              </a:rPr>
              <a:t> XAI techniques explain </a:t>
            </a:r>
            <a:r>
              <a:rPr lang="en-IN" sz="8000" b="1" dirty="0">
                <a:latin typeface="Times New Roman" panose="02020603050405020304" pitchFamily="18" charset="0"/>
                <a:cs typeface="Times New Roman" panose="02020603050405020304" pitchFamily="18" charset="0"/>
              </a:rPr>
              <a:t>why and how</a:t>
            </a:r>
            <a:r>
              <a:rPr lang="en-IN" sz="8000" dirty="0">
                <a:latin typeface="Times New Roman" panose="02020603050405020304" pitchFamily="18" charset="0"/>
                <a:cs typeface="Times New Roman" panose="02020603050405020304" pitchFamily="18" charset="0"/>
              </a:rPr>
              <a:t> the AI arrived at that decision. </a:t>
            </a:r>
          </a:p>
          <a:p>
            <a:pPr lvl="0"/>
            <a:endParaRPr lang="en-IN" sz="80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Trust and Validation:</a:t>
            </a:r>
            <a:r>
              <a:rPr lang="en-IN" sz="8000" dirty="0">
                <a:latin typeface="Times New Roman" panose="02020603050405020304" pitchFamily="18" charset="0"/>
                <a:cs typeface="Times New Roman" panose="02020603050405020304" pitchFamily="18" charset="0"/>
              </a:rPr>
              <a:t> The system checks for </a:t>
            </a:r>
            <a:r>
              <a:rPr lang="en-IN" sz="8000" b="1" dirty="0">
                <a:latin typeface="Times New Roman" panose="02020603050405020304" pitchFamily="18" charset="0"/>
                <a:cs typeface="Times New Roman" panose="02020603050405020304" pitchFamily="18" charset="0"/>
              </a:rPr>
              <a:t>fairness, accuracy, safety, privacy, and bias</a:t>
            </a:r>
            <a:r>
              <a:rPr lang="en-IN" sz="8000" dirty="0">
                <a:latin typeface="Times New Roman" panose="02020603050405020304" pitchFamily="18" charset="0"/>
                <a:cs typeface="Times New Roman" panose="02020603050405020304" pitchFamily="18" charset="0"/>
              </a:rPr>
              <a:t> to ensure the decision is trustworthy.</a:t>
            </a:r>
          </a:p>
          <a:p>
            <a:endParaRPr lang="en-IN" sz="26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KEY COMPONENTS AND TECHNOLOGY</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pPr marL="0" indent="0">
              <a:buNone/>
            </a:pPr>
            <a:endParaRPr lang="en-IN" b="1" dirty="0"/>
          </a:p>
          <a:p>
            <a:pPr lvl="0"/>
            <a:r>
              <a:rPr lang="en-IN" b="1" dirty="0"/>
              <a:t>Machine Learning (ML)</a:t>
            </a:r>
            <a:r>
              <a:rPr lang="en-IN" dirty="0"/>
              <a:t> – Learns from data and makes predictions.</a:t>
            </a:r>
          </a:p>
          <a:p>
            <a:pPr lvl="0"/>
            <a:r>
              <a:rPr lang="en-IN" b="1" dirty="0"/>
              <a:t>Explainable AI (XAI)</a:t>
            </a:r>
            <a:r>
              <a:rPr lang="en-IN" dirty="0"/>
              <a:t> – Explains the reasons behind AI decisions.</a:t>
            </a:r>
          </a:p>
          <a:p>
            <a:pPr lvl="0"/>
            <a:r>
              <a:rPr lang="en-IN" b="1" dirty="0"/>
              <a:t>Data Privacy</a:t>
            </a:r>
            <a:r>
              <a:rPr lang="en-IN" dirty="0"/>
              <a:t> – Protects personal and sensitive information.</a:t>
            </a:r>
          </a:p>
          <a:p>
            <a:pPr lvl="0"/>
            <a:r>
              <a:rPr lang="en-IN" b="1" dirty="0"/>
              <a:t>Fairness</a:t>
            </a:r>
            <a:r>
              <a:rPr lang="en-IN" dirty="0"/>
              <a:t> – Reduces bias and discrimination.</a:t>
            </a:r>
          </a:p>
          <a:p>
            <a:pPr lvl="0"/>
            <a:r>
              <a:rPr lang="en-IN" b="1" dirty="0"/>
              <a:t>Transparency</a:t>
            </a:r>
            <a:r>
              <a:rPr lang="en-IN" dirty="0"/>
              <a:t> – Makes AI processes understandable.</a:t>
            </a:r>
          </a:p>
          <a:p>
            <a:pPr lvl="0"/>
            <a:r>
              <a:rPr lang="en-IN" b="1" dirty="0"/>
              <a:t>Security and Reliability</a:t>
            </a:r>
            <a:r>
              <a:rPr lang="en-IN" dirty="0"/>
              <a:t> – Ensures safe and dependable AI systems.</a:t>
            </a:r>
          </a:p>
          <a:p>
            <a:pPr marL="0" indent="0">
              <a:buNone/>
            </a:pPr>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767480" y="-1006418"/>
            <a:ext cx="7043617" cy="2520217"/>
          </a:xfrm>
        </p:spPr>
        <p:txBody>
          <a:bodyPr/>
          <a:lstStyle/>
          <a:p>
            <a:r>
              <a:rPr lang="en-US" dirty="0"/>
              <a:t>APPLICATIONS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205418" y="1833217"/>
            <a:ext cx="7043618" cy="2726274"/>
          </a:xfrm>
        </p:spPr>
        <p:txBody>
          <a:bodyPr>
            <a:normAutofit fontScale="25000" lnSpcReduction="20000"/>
          </a:bodyPr>
          <a:lstStyle/>
          <a:p>
            <a:pPr marL="1143000" indent="-1143000">
              <a:buFont typeface="Arial" panose="020B0604020202020204" pitchFamily="34" charset="0"/>
              <a:buChar char="•"/>
            </a:pPr>
            <a:endParaRPr lang="en-IN" sz="9600" b="1"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9600" b="1" dirty="0">
                <a:latin typeface="Times New Roman" panose="02020603050405020304" pitchFamily="18" charset="0"/>
                <a:cs typeface="Times New Roman" panose="02020603050405020304" pitchFamily="18" charset="0"/>
              </a:rPr>
              <a:t>Healthcare</a:t>
            </a:r>
            <a:r>
              <a:rPr lang="en-IN" sz="9600" dirty="0">
                <a:latin typeface="Times New Roman" panose="02020603050405020304" pitchFamily="18" charset="0"/>
                <a:cs typeface="Times New Roman" panose="02020603050405020304" pitchFamily="18" charset="0"/>
              </a:rPr>
              <a:t> – Helps doctors diagnose diseases and make treatment decisions.</a:t>
            </a:r>
          </a:p>
          <a:p>
            <a:pPr marL="1143000" lvl="0" indent="-1143000">
              <a:buFont typeface="Arial" panose="020B0604020202020204" pitchFamily="34" charset="0"/>
              <a:buChar char="•"/>
            </a:pPr>
            <a:endParaRPr lang="en-IN" sz="96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9600" b="1" dirty="0">
                <a:latin typeface="Times New Roman" panose="02020603050405020304" pitchFamily="18" charset="0"/>
                <a:cs typeface="Times New Roman" panose="02020603050405020304" pitchFamily="18" charset="0"/>
              </a:rPr>
              <a:t>Banking</a:t>
            </a:r>
            <a:r>
              <a:rPr lang="en-IN" sz="9600" dirty="0">
                <a:latin typeface="Times New Roman" panose="02020603050405020304" pitchFamily="18" charset="0"/>
                <a:cs typeface="Times New Roman" panose="02020603050405020304" pitchFamily="18" charset="0"/>
              </a:rPr>
              <a:t> – Detects fraud and supports loan approval decisions.</a:t>
            </a:r>
          </a:p>
          <a:p>
            <a:pPr marL="1143000" lvl="0" indent="-1143000">
              <a:buFont typeface="Arial" panose="020B0604020202020204" pitchFamily="34" charset="0"/>
              <a:buChar char="•"/>
            </a:pPr>
            <a:endParaRPr lang="en-IN" sz="96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9600" b="1" dirty="0">
                <a:latin typeface="Times New Roman" panose="02020603050405020304" pitchFamily="18" charset="0"/>
                <a:cs typeface="Times New Roman" panose="02020603050405020304" pitchFamily="18" charset="0"/>
              </a:rPr>
              <a:t>Education</a:t>
            </a:r>
            <a:r>
              <a:rPr lang="en-IN" sz="9600" dirty="0">
                <a:latin typeface="Times New Roman" panose="02020603050405020304" pitchFamily="18" charset="0"/>
                <a:cs typeface="Times New Roman" panose="02020603050405020304" pitchFamily="18" charset="0"/>
              </a:rPr>
              <a:t> – Provides personalized learning and student assessment.</a:t>
            </a:r>
          </a:p>
          <a:p>
            <a:pPr marL="1143000" lvl="0" indent="-1143000">
              <a:buFont typeface="Arial" panose="020B0604020202020204" pitchFamily="34" charset="0"/>
              <a:buChar char="•"/>
            </a:pPr>
            <a:endParaRPr lang="en-IN" sz="96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9600" b="1" dirty="0">
                <a:latin typeface="Times New Roman" panose="02020603050405020304" pitchFamily="18" charset="0"/>
                <a:cs typeface="Times New Roman" panose="02020603050405020304" pitchFamily="18" charset="0"/>
              </a:rPr>
              <a:t>Self-driving Cars</a:t>
            </a:r>
            <a:r>
              <a:rPr lang="en-IN" sz="9600" dirty="0">
                <a:latin typeface="Times New Roman" panose="02020603050405020304" pitchFamily="18" charset="0"/>
                <a:cs typeface="Times New Roman" panose="02020603050405020304" pitchFamily="18" charset="0"/>
              </a:rPr>
              <a:t> – Helps vehicles make safe driving decisions.</a:t>
            </a:r>
          </a:p>
          <a:p>
            <a:pPr marL="1143000" lvl="0" indent="-1143000">
              <a:buFont typeface="Arial" panose="020B0604020202020204" pitchFamily="34" charset="0"/>
              <a:buChar char="•"/>
            </a:pPr>
            <a:endParaRPr lang="en-IN" sz="9600" dirty="0">
              <a:latin typeface="Times New Roman" panose="02020603050405020304" pitchFamily="18" charset="0"/>
              <a:cs typeface="Times New Roman" panose="02020603050405020304" pitchFamily="18" charset="0"/>
            </a:endParaRPr>
          </a:p>
          <a:p>
            <a:pPr marL="1143000" lvl="0" indent="-1143000">
              <a:buFont typeface="Arial" panose="020B0604020202020204" pitchFamily="34" charset="0"/>
              <a:buChar char="•"/>
            </a:pPr>
            <a:r>
              <a:rPr lang="en-IN" sz="9600" b="1" dirty="0">
                <a:latin typeface="Times New Roman" panose="02020603050405020304" pitchFamily="18" charset="0"/>
                <a:cs typeface="Times New Roman" panose="02020603050405020304" pitchFamily="18" charset="0"/>
              </a:rPr>
              <a:t>Cybersecurity</a:t>
            </a:r>
            <a:r>
              <a:rPr lang="en-IN" sz="9600" dirty="0">
                <a:latin typeface="Times New Roman" panose="02020603050405020304" pitchFamily="18" charset="0"/>
                <a:cs typeface="Times New Roman" panose="02020603050405020304" pitchFamily="18" charset="0"/>
              </a:rPr>
              <a:t> – Detects threats and unusual activities.</a:t>
            </a:r>
          </a:p>
          <a:p>
            <a:endParaRPr lang="en-US" dirty="0"/>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US" dirty="0"/>
              <a:t>ADVANTAGES AND LIMITATIONS</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2303028"/>
            <a:ext cx="3283119" cy="3720337"/>
          </a:xfrm>
        </p:spPr>
        <p:txBody>
          <a:bodyPr>
            <a:normAutofit/>
          </a:bodyPr>
          <a:lstStyle/>
          <a:p>
            <a:r>
              <a:rPr lang="en-IN" b="1" dirty="0">
                <a:latin typeface="Times New Roman" panose="02020603050405020304" pitchFamily="18" charset="0"/>
                <a:cs typeface="Times New Roman" panose="02020603050405020304" pitchFamily="18" charset="0"/>
              </a:rPr>
              <a:t>Advantages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Improves </a:t>
            </a:r>
            <a:r>
              <a:rPr lang="en-IN" b="1" dirty="0">
                <a:latin typeface="Times New Roman" panose="02020603050405020304" pitchFamily="18" charset="0"/>
                <a:cs typeface="Times New Roman" panose="02020603050405020304" pitchFamily="18" charset="0"/>
              </a:rPr>
              <a:t>transparency and trust</a:t>
            </a:r>
            <a:r>
              <a:rPr lang="en-IN" dirty="0">
                <a:latin typeface="Times New Roman" panose="02020603050405020304" pitchFamily="18" charset="0"/>
                <a:cs typeface="Times New Roman" panose="02020603050405020304" pitchFamily="18" charset="0"/>
              </a:rPr>
              <a:t> in AI decisions.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Reduces </a:t>
            </a:r>
            <a:r>
              <a:rPr lang="en-IN" b="1" dirty="0">
                <a:latin typeface="Times New Roman" panose="02020603050405020304" pitchFamily="18" charset="0"/>
                <a:cs typeface="Times New Roman" panose="02020603050405020304" pitchFamily="18" charset="0"/>
              </a:rPr>
              <a:t>bias and unfairness</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Protects </a:t>
            </a:r>
            <a:r>
              <a:rPr lang="en-IN" b="1" dirty="0">
                <a:latin typeface="Times New Roman" panose="02020603050405020304" pitchFamily="18" charset="0"/>
                <a:cs typeface="Times New Roman" panose="02020603050405020304" pitchFamily="18" charset="0"/>
              </a:rPr>
              <a:t>privacy and security</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humans make </a:t>
            </a:r>
            <a:r>
              <a:rPr lang="en-IN" b="1" dirty="0">
                <a:latin typeface="Times New Roman" panose="02020603050405020304" pitchFamily="18" charset="0"/>
                <a:cs typeface="Times New Roman" panose="02020603050405020304" pitchFamily="18" charset="0"/>
              </a:rPr>
              <a:t>better decisions</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Increases the </a:t>
            </a:r>
            <a:r>
              <a:rPr lang="en-IN" b="1" dirty="0">
                <a:latin typeface="Times New Roman" panose="02020603050405020304" pitchFamily="18" charset="0"/>
                <a:cs typeface="Times New Roman" panose="02020603050405020304" pitchFamily="18" charset="0"/>
              </a:rPr>
              <a:t>reliability and acceptance</a:t>
            </a:r>
            <a:r>
              <a:rPr lang="en-IN" dirty="0">
                <a:latin typeface="Times New Roman" panose="02020603050405020304" pitchFamily="18" charset="0"/>
                <a:cs typeface="Times New Roman" panose="02020603050405020304" pitchFamily="18" charset="0"/>
              </a:rPr>
              <a:t> of AI.</a:t>
            </a:r>
          </a:p>
          <a:p>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4782159" y="2303028"/>
            <a:ext cx="3284951" cy="3720337"/>
          </a:xfrm>
        </p:spPr>
        <p:txBody>
          <a:bodyPr>
            <a:normAutofit lnSpcReduction="10000"/>
          </a:bodyPr>
          <a:lstStyle/>
          <a:p>
            <a:r>
              <a:rPr lang="en-IN" b="1" dirty="0">
                <a:latin typeface="Times New Roman" panose="02020603050405020304" pitchFamily="18" charset="0"/>
                <a:cs typeface="Times New Roman" panose="02020603050405020304" pitchFamily="18" charset="0"/>
              </a:rPr>
              <a:t>Limitations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 models can be </a:t>
            </a:r>
            <a:r>
              <a:rPr lang="en-IN" b="1" dirty="0">
                <a:latin typeface="Times New Roman" panose="02020603050405020304" pitchFamily="18" charset="0"/>
                <a:cs typeface="Times New Roman" panose="02020603050405020304" pitchFamily="18" charset="0"/>
              </a:rPr>
              <a:t>complex and difficult to explain</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Requires </a:t>
            </a:r>
            <a:r>
              <a:rPr lang="en-IN" b="1" dirty="0">
                <a:latin typeface="Times New Roman" panose="02020603050405020304" pitchFamily="18" charset="0"/>
                <a:cs typeface="Times New Roman" panose="02020603050405020304" pitchFamily="18" charset="0"/>
              </a:rPr>
              <a:t>high-quality and large amounts of data</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Developing trustworthy AI can be </a:t>
            </a:r>
            <a:r>
              <a:rPr lang="en-IN" b="1" dirty="0">
                <a:latin typeface="Times New Roman" panose="02020603050405020304" pitchFamily="18" charset="0"/>
                <a:cs typeface="Times New Roman" panose="02020603050405020304" pitchFamily="18" charset="0"/>
              </a:rPr>
              <a:t>costly and time-consuming</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 may still contain </a:t>
            </a:r>
            <a:r>
              <a:rPr lang="en-IN" b="1" dirty="0">
                <a:latin typeface="Times New Roman" panose="02020603050405020304" pitchFamily="18" charset="0"/>
                <a:cs typeface="Times New Roman" panose="02020603050405020304" pitchFamily="18" charset="0"/>
              </a:rPr>
              <a:t>bias or errors</a:t>
            </a:r>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Complete transparency is </a:t>
            </a:r>
            <a:r>
              <a:rPr lang="en-IN" b="1" dirty="0">
                <a:latin typeface="Times New Roman" panose="02020603050405020304" pitchFamily="18" charset="0"/>
                <a:cs typeface="Times New Roman" panose="02020603050405020304" pitchFamily="18" charset="0"/>
              </a:rPr>
              <a:t>not always possible</a:t>
            </a:r>
            <a:endParaRPr lang="en-IN"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1174459" y="965393"/>
            <a:ext cx="9401785" cy="1091627"/>
          </a:xfrm>
        </p:spPr>
        <p:txBody>
          <a:bodyPr/>
          <a:lstStyle/>
          <a:p>
            <a:r>
              <a:rPr lang="en-US" dirty="0"/>
              <a:t>RECENT DEVELOPMENTS AND TRENDS</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03463"/>
            <a:ext cx="9009776" cy="4143375"/>
          </a:xfrm>
        </p:spPr>
        <p:txBody>
          <a:bodyPr>
            <a:normAutofit fontScale="62500" lnSpcReduction="20000"/>
          </a:bodyPr>
          <a:lstStyle/>
          <a:p>
            <a:pPr lvl="0"/>
            <a:r>
              <a:rPr lang="en-IN" sz="3400" b="1" dirty="0">
                <a:latin typeface="Times New Roman" panose="02020603050405020304" pitchFamily="18" charset="0"/>
                <a:cs typeface="Times New Roman" panose="02020603050405020304" pitchFamily="18" charset="0"/>
              </a:rPr>
              <a:t>Generative AI and LLMs</a:t>
            </a:r>
            <a:r>
              <a:rPr lang="en-IN" sz="3400" dirty="0">
                <a:latin typeface="Times New Roman" panose="02020603050405020304" pitchFamily="18" charset="0"/>
                <a:cs typeface="Times New Roman" panose="02020603050405020304" pitchFamily="18" charset="0"/>
              </a:rPr>
              <a:t> are increasingly being developed with better transparency and reliability.</a:t>
            </a:r>
          </a:p>
          <a:p>
            <a:pPr lvl="0"/>
            <a:r>
              <a:rPr lang="en-IN" sz="3400" b="1" dirty="0">
                <a:latin typeface="Times New Roman" panose="02020603050405020304" pitchFamily="18" charset="0"/>
                <a:cs typeface="Times New Roman" panose="02020603050405020304" pitchFamily="18" charset="0"/>
              </a:rPr>
              <a:t>Explainable AI (XAI)</a:t>
            </a:r>
            <a:r>
              <a:rPr lang="en-IN" sz="3400" dirty="0">
                <a:latin typeface="Times New Roman" panose="02020603050405020304" pitchFamily="18" charset="0"/>
                <a:cs typeface="Times New Roman" panose="02020603050405020304" pitchFamily="18" charset="0"/>
              </a:rPr>
              <a:t> is becoming important for understanding complex AI decision.</a:t>
            </a:r>
          </a:p>
          <a:p>
            <a:pPr lvl="0"/>
            <a:r>
              <a:rPr lang="en-IN" sz="3400" b="1" dirty="0">
                <a:latin typeface="Times New Roman" panose="02020603050405020304" pitchFamily="18" charset="0"/>
                <a:cs typeface="Times New Roman" panose="02020603050405020304" pitchFamily="18" charset="0"/>
              </a:rPr>
              <a:t>AI regulations and governance</a:t>
            </a:r>
            <a:r>
              <a:rPr lang="en-IN" sz="3400" dirty="0">
                <a:latin typeface="Times New Roman" panose="02020603050405020304" pitchFamily="18" charset="0"/>
                <a:cs typeface="Times New Roman" panose="02020603050405020304" pitchFamily="18" charset="0"/>
              </a:rPr>
              <a:t> are growing to improve safety, accountability, and transparency. </a:t>
            </a:r>
          </a:p>
          <a:p>
            <a:pPr lvl="0"/>
            <a:r>
              <a:rPr lang="en-IN" sz="3400" b="1" dirty="0">
                <a:latin typeface="Times New Roman" panose="02020603050405020304" pitchFamily="18" charset="0"/>
                <a:cs typeface="Times New Roman" panose="02020603050405020304" pitchFamily="18" charset="0"/>
              </a:rPr>
              <a:t>Agentic AI</a:t>
            </a:r>
            <a:r>
              <a:rPr lang="en-IN" sz="3400" dirty="0">
                <a:latin typeface="Times New Roman" panose="02020603050405020304" pitchFamily="18" charset="0"/>
                <a:cs typeface="Times New Roman" panose="02020603050405020304" pitchFamily="18" charset="0"/>
              </a:rPr>
              <a:t> is emerging, where AI systems can plan and perform tasks more independently. </a:t>
            </a:r>
          </a:p>
          <a:p>
            <a:pPr lvl="0"/>
            <a:r>
              <a:rPr lang="en-IN" sz="3400" b="1" dirty="0">
                <a:latin typeface="Times New Roman" panose="02020603050405020304" pitchFamily="18" charset="0"/>
                <a:cs typeface="Times New Roman" panose="02020603050405020304" pitchFamily="18" charset="0"/>
              </a:rPr>
              <a:t>Privacy, fairness, and security</a:t>
            </a:r>
            <a:r>
              <a:rPr lang="en-IN" sz="3400" dirty="0">
                <a:latin typeface="Times New Roman" panose="02020603050405020304" pitchFamily="18" charset="0"/>
                <a:cs typeface="Times New Roman" panose="02020603050405020304" pitchFamily="18" charset="0"/>
              </a:rPr>
              <a:t> are </a:t>
            </a:r>
            <a:r>
              <a:rPr lang="en-IN" sz="3800" dirty="0">
                <a:latin typeface="Times New Roman" panose="02020603050405020304" pitchFamily="18" charset="0"/>
                <a:cs typeface="Times New Roman" panose="02020603050405020304" pitchFamily="18" charset="0"/>
              </a:rPr>
              <a:t>becoming</a:t>
            </a:r>
            <a:r>
              <a:rPr lang="en-IN" sz="3400" dirty="0">
                <a:latin typeface="Times New Roman" panose="02020603050405020304" pitchFamily="18" charset="0"/>
                <a:cs typeface="Times New Roman" panose="02020603050405020304" pitchFamily="18" charset="0"/>
              </a:rPr>
              <a:t> core requirements for trustworthy AI.</a:t>
            </a:r>
          </a:p>
          <a:p>
            <a:pPr lvl="0"/>
            <a:r>
              <a:rPr lang="en-IN" sz="3400" b="1" dirty="0">
                <a:latin typeface="Times New Roman" panose="02020603050405020304" pitchFamily="18" charset="0"/>
                <a:cs typeface="Times New Roman" panose="02020603050405020304" pitchFamily="18" charset="0"/>
              </a:rPr>
              <a:t>Human-</a:t>
            </a:r>
            <a:r>
              <a:rPr lang="en-IN" sz="3400" b="1" dirty="0" err="1">
                <a:latin typeface="Times New Roman" panose="02020603050405020304" pitchFamily="18" charset="0"/>
                <a:cs typeface="Times New Roman" panose="02020603050405020304" pitchFamily="18" charset="0"/>
              </a:rPr>
              <a:t>centered</a:t>
            </a:r>
            <a:r>
              <a:rPr lang="en-IN" sz="3400" b="1" dirty="0">
                <a:latin typeface="Times New Roman" panose="02020603050405020304" pitchFamily="18" charset="0"/>
                <a:cs typeface="Times New Roman" panose="02020603050405020304" pitchFamily="18" charset="0"/>
              </a:rPr>
              <a:t> AI</a:t>
            </a:r>
            <a:r>
              <a:rPr lang="en-IN" sz="3400" dirty="0">
                <a:latin typeface="Times New Roman" panose="02020603050405020304" pitchFamily="18" charset="0"/>
                <a:cs typeface="Times New Roman" panose="02020603050405020304" pitchFamily="18" charset="0"/>
              </a:rPr>
              <a:t> is gaining importance, keeping humans involved in important AI decisions.</a:t>
            </a:r>
          </a:p>
          <a:p>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dirty="0"/>
              <a:t>CHALLENGES AND FUTURE SCOPE</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2331791"/>
            <a:ext cx="7516536" cy="3721817"/>
          </a:xfrm>
        </p:spPr>
        <p:txBody>
          <a:bodyPr>
            <a:normAutofit fontScale="25000" lnSpcReduction="20000"/>
          </a:bodyPr>
          <a:lstStyle/>
          <a:p>
            <a:pPr marL="457200" lvl="0" indent="-457200">
              <a:buFont typeface="Arial" panose="020B0604020202020204" pitchFamily="34" charset="0"/>
              <a:buChar char="•"/>
            </a:pPr>
            <a:r>
              <a:rPr lang="en-IN" sz="8000" dirty="0">
                <a:latin typeface="Times New Roman" panose="02020603050405020304" pitchFamily="18" charset="0"/>
                <a:cs typeface="Times New Roman" panose="02020603050405020304" pitchFamily="18" charset="0"/>
              </a:rPr>
              <a:t>AI can have </a:t>
            </a:r>
            <a:r>
              <a:rPr lang="en-IN" sz="8000" b="1" dirty="0">
                <a:latin typeface="Times New Roman" panose="02020603050405020304" pitchFamily="18" charset="0"/>
                <a:cs typeface="Times New Roman" panose="02020603050405020304" pitchFamily="18" charset="0"/>
              </a:rPr>
              <a:t>bias and inaccurate results</a:t>
            </a:r>
            <a:r>
              <a:rPr lang="en-IN" sz="8000" dirty="0">
                <a:latin typeface="Times New Roman" panose="02020603050405020304" pitchFamily="18" charset="0"/>
                <a:cs typeface="Times New Roman" panose="02020603050405020304" pitchFamily="18" charset="0"/>
              </a:rPr>
              <a:t>.</a:t>
            </a:r>
          </a:p>
          <a:p>
            <a:pPr marL="457200" lvl="0" indent="-457200">
              <a:buFont typeface="Arial" panose="020B0604020202020204" pitchFamily="34" charset="0"/>
              <a:buChar char="•"/>
            </a:pPr>
            <a:endParaRPr lang="en-IN" sz="80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8000" dirty="0">
                <a:latin typeface="Times New Roman" panose="02020603050405020304" pitchFamily="18" charset="0"/>
                <a:cs typeface="Times New Roman" panose="02020603050405020304" pitchFamily="18" charset="0"/>
              </a:rPr>
              <a:t>Complex AI models are difficult to </a:t>
            </a:r>
            <a:r>
              <a:rPr lang="en-IN" sz="8000" b="1" dirty="0">
                <a:latin typeface="Times New Roman" panose="02020603050405020304" pitchFamily="18" charset="0"/>
                <a:cs typeface="Times New Roman" panose="02020603050405020304" pitchFamily="18" charset="0"/>
              </a:rPr>
              <a:t>explain and understand</a:t>
            </a:r>
            <a:r>
              <a:rPr lang="en-IN" sz="8000" dirty="0">
                <a:latin typeface="Times New Roman" panose="02020603050405020304" pitchFamily="18" charset="0"/>
                <a:cs typeface="Times New Roman" panose="02020603050405020304" pitchFamily="18" charset="0"/>
              </a:rPr>
              <a:t>.</a:t>
            </a:r>
          </a:p>
          <a:p>
            <a:pPr marL="457200" lvl="0" indent="-457200">
              <a:buFont typeface="Arial" panose="020B0604020202020204" pitchFamily="34" charset="0"/>
              <a:buChar char="•"/>
            </a:pPr>
            <a:endParaRPr lang="en-IN" sz="80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8000" b="1" dirty="0">
                <a:latin typeface="Times New Roman" panose="02020603050405020304" pitchFamily="18" charset="0"/>
                <a:cs typeface="Times New Roman" panose="02020603050405020304" pitchFamily="18" charset="0"/>
              </a:rPr>
              <a:t>Privacy and security</a:t>
            </a:r>
            <a:r>
              <a:rPr lang="en-IN" sz="8000" dirty="0">
                <a:latin typeface="Times New Roman" panose="02020603050405020304" pitchFamily="18" charset="0"/>
                <a:cs typeface="Times New Roman" panose="02020603050405020304" pitchFamily="18" charset="0"/>
              </a:rPr>
              <a:t> of data can be challenging.</a:t>
            </a:r>
          </a:p>
          <a:p>
            <a:pPr marL="457200" lvl="0" indent="-457200">
              <a:buFont typeface="Arial" panose="020B0604020202020204" pitchFamily="34" charset="0"/>
              <a:buChar char="•"/>
            </a:pPr>
            <a:endParaRPr lang="en-IN" sz="80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8000" dirty="0">
                <a:latin typeface="Times New Roman" panose="02020603050405020304" pitchFamily="18" charset="0"/>
                <a:cs typeface="Times New Roman" panose="02020603050405020304" pitchFamily="18" charset="0"/>
              </a:rPr>
              <a:t>Developing trustworthy AI requires </a:t>
            </a:r>
            <a:r>
              <a:rPr lang="en-IN" sz="8000" b="1" dirty="0">
                <a:latin typeface="Times New Roman" panose="02020603050405020304" pitchFamily="18" charset="0"/>
                <a:cs typeface="Times New Roman" panose="02020603050405020304" pitchFamily="18" charset="0"/>
              </a:rPr>
              <a:t>time, cost, and skilled professionals</a:t>
            </a:r>
            <a:r>
              <a:rPr lang="en-IN" sz="8000" dirty="0">
                <a:latin typeface="Times New Roman" panose="02020603050405020304" pitchFamily="18" charset="0"/>
                <a:cs typeface="Times New Roman" panose="02020603050405020304" pitchFamily="18" charset="0"/>
              </a:rPr>
              <a:t>.</a:t>
            </a:r>
          </a:p>
          <a:p>
            <a:pPr lvl="0"/>
            <a:endParaRPr lang="en-IN" sz="9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9600" b="1" dirty="0">
                <a:latin typeface="Times New Roman" panose="02020603050405020304" pitchFamily="18" charset="0"/>
                <a:cs typeface="Times New Roman" panose="02020603050405020304" pitchFamily="18" charset="0"/>
              </a:rPr>
              <a:t>Future Scope</a:t>
            </a:r>
          </a:p>
          <a:p>
            <a:pPr marL="457200" indent="-457200">
              <a:buFont typeface="Arial" panose="020B0604020202020204" pitchFamily="34" charset="0"/>
              <a:buChar char="•"/>
            </a:pPr>
            <a:endParaRPr lang="en-IN" sz="96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8000" dirty="0">
                <a:latin typeface="Times New Roman" panose="02020603050405020304" pitchFamily="18" charset="0"/>
                <a:cs typeface="Times New Roman" panose="02020603050405020304" pitchFamily="18" charset="0"/>
              </a:rPr>
              <a:t>More </a:t>
            </a:r>
            <a:r>
              <a:rPr lang="en-IN" sz="8000" b="1" dirty="0">
                <a:latin typeface="Times New Roman" panose="02020603050405020304" pitchFamily="18" charset="0"/>
                <a:cs typeface="Times New Roman" panose="02020603050405020304" pitchFamily="18" charset="0"/>
              </a:rPr>
              <a:t>transparent and explainable AI</a:t>
            </a:r>
            <a:r>
              <a:rPr lang="en-IN" sz="8000" dirty="0">
                <a:latin typeface="Times New Roman" panose="02020603050405020304" pitchFamily="18" charset="0"/>
                <a:cs typeface="Times New Roman" panose="02020603050405020304" pitchFamily="18" charset="0"/>
              </a:rPr>
              <a:t> systems.</a:t>
            </a:r>
          </a:p>
          <a:p>
            <a:pPr marL="457200" lvl="0" indent="-457200">
              <a:buFont typeface="Arial" panose="020B0604020202020204" pitchFamily="34" charset="0"/>
              <a:buChar char="•"/>
            </a:pPr>
            <a:endParaRPr lang="en-IN" sz="80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8000" dirty="0">
                <a:latin typeface="Times New Roman" panose="02020603050405020304" pitchFamily="18" charset="0"/>
                <a:cs typeface="Times New Roman" panose="02020603050405020304" pitchFamily="18" charset="0"/>
              </a:rPr>
              <a:t>Better </a:t>
            </a:r>
            <a:r>
              <a:rPr lang="en-IN" sz="8000" b="1" dirty="0">
                <a:latin typeface="Times New Roman" panose="02020603050405020304" pitchFamily="18" charset="0"/>
                <a:cs typeface="Times New Roman" panose="02020603050405020304" pitchFamily="18" charset="0"/>
              </a:rPr>
              <a:t>AI safety, fairness, and privacy</a:t>
            </a:r>
            <a:r>
              <a:rPr lang="en-IN" sz="8000" dirty="0">
                <a:latin typeface="Times New Roman" panose="02020603050405020304" pitchFamily="18" charset="0"/>
                <a:cs typeface="Times New Roman" panose="02020603050405020304" pitchFamily="18" charset="0"/>
              </a:rPr>
              <a:t>.</a:t>
            </a:r>
          </a:p>
          <a:p>
            <a:pPr marL="457200" lvl="0" indent="-457200">
              <a:buFont typeface="Arial" panose="020B0604020202020204" pitchFamily="34" charset="0"/>
              <a:buChar char="•"/>
            </a:pPr>
            <a:endParaRPr lang="en-IN" sz="8000" dirty="0">
              <a:latin typeface="Times New Roman" panose="02020603050405020304" pitchFamily="18" charset="0"/>
              <a:cs typeface="Times New Roman" panose="02020603050405020304" pitchFamily="18" charset="0"/>
            </a:endParaRPr>
          </a:p>
          <a:p>
            <a:pPr marL="457200" lvl="0" indent="-457200">
              <a:buFont typeface="Arial" panose="020B0604020202020204" pitchFamily="34" charset="0"/>
              <a:buChar char="•"/>
            </a:pPr>
            <a:r>
              <a:rPr lang="en-IN" sz="8000" dirty="0">
                <a:latin typeface="Times New Roman" panose="02020603050405020304" pitchFamily="18" charset="0"/>
                <a:cs typeface="Times New Roman" panose="02020603050405020304" pitchFamily="18" charset="0"/>
              </a:rPr>
              <a:t>Wider use in </a:t>
            </a:r>
            <a:r>
              <a:rPr lang="en-IN" sz="8000" b="1" dirty="0">
                <a:latin typeface="Times New Roman" panose="02020603050405020304" pitchFamily="18" charset="0"/>
                <a:cs typeface="Times New Roman" panose="02020603050405020304" pitchFamily="18" charset="0"/>
              </a:rPr>
              <a:t>healthcare, education, banking, and smart cities</a:t>
            </a:r>
            <a:r>
              <a:rPr lang="en-IN" sz="8000" dirty="0">
                <a:latin typeface="Times New Roman" panose="02020603050405020304" pitchFamily="18" charset="0"/>
                <a:cs typeface="Times New Roman" panose="02020603050405020304" pitchFamily="18" charset="0"/>
              </a:rPr>
              <a:t>.</a:t>
            </a:r>
          </a:p>
          <a:p>
            <a:pPr marL="457200" lvl="0" indent="-457200">
              <a:buFont typeface="Arial" panose="020B0604020202020204" pitchFamily="34" charset="0"/>
              <a:buChar char="•"/>
            </a:pPr>
            <a:endParaRPr lang="en-IN" sz="8000" dirty="0">
              <a:latin typeface="Times New Roman" panose="02020603050405020304" pitchFamily="18" charset="0"/>
              <a:cs typeface="Times New Roman" panose="02020603050405020304" pitchFamily="18" charset="0"/>
            </a:endParaRPr>
          </a:p>
          <a:p>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3387753" y="839160"/>
            <a:ext cx="9875463" cy="999746"/>
          </a:xfrm>
        </p:spPr>
        <p:txBody>
          <a:bodyPr/>
          <a:lstStyle/>
          <a:p>
            <a:r>
              <a:rPr lang="en-US" dirty="0"/>
              <a:t>CONCLUSION</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sp>
        <p:nvSpPr>
          <p:cNvPr id="5" name="TextBox 4">
            <a:extLst>
              <a:ext uri="{FF2B5EF4-FFF2-40B4-BE49-F238E27FC236}">
                <a16:creationId xmlns:a16="http://schemas.microsoft.com/office/drawing/2014/main" id="{029702B6-DCF6-D159-40CC-C6E93DD6B34F}"/>
              </a:ext>
            </a:extLst>
          </p:cNvPr>
          <p:cNvSpPr txBox="1"/>
          <p:nvPr/>
        </p:nvSpPr>
        <p:spPr>
          <a:xfrm>
            <a:off x="2065790" y="2492657"/>
            <a:ext cx="7949478" cy="2585323"/>
          </a:xfrm>
          <a:prstGeom prst="rect">
            <a:avLst/>
          </a:prstGeom>
          <a:noFill/>
        </p:spPr>
        <p:txBody>
          <a:bodyPr wrap="square">
            <a:spAutoFit/>
          </a:bodyPr>
          <a:lstStyle/>
          <a:p>
            <a:pPr>
              <a:buNone/>
            </a:pPr>
            <a:endParaRPr lang="en-IN" b="1" dirty="0"/>
          </a:p>
          <a:p>
            <a:pPr marL="342900" lvl="0" indent="-342900">
              <a:buFont typeface="Arial" panose="020B0604020202020204" pitchFamily="34" charset="0"/>
              <a:buChar char="•"/>
            </a:pPr>
            <a:r>
              <a:rPr lang="en-IN" sz="2400" dirty="0">
                <a:solidFill>
                  <a:srgbClr val="202C8F"/>
                </a:solidFill>
                <a:latin typeface="Times New Roman" panose="02020603050405020304" pitchFamily="18" charset="0"/>
                <a:cs typeface="Times New Roman" panose="02020603050405020304" pitchFamily="18" charset="0"/>
              </a:rPr>
              <a:t>Explainable and Trustworthy AI makes AI systems transparent and reliable.</a:t>
            </a:r>
          </a:p>
          <a:p>
            <a:pPr marL="342900" lvl="0" indent="-342900">
              <a:buFont typeface="Arial" panose="020B0604020202020204" pitchFamily="34" charset="0"/>
              <a:buChar char="•"/>
            </a:pPr>
            <a:r>
              <a:rPr lang="en-IN" sz="2400" dirty="0">
                <a:solidFill>
                  <a:srgbClr val="202C8F"/>
                </a:solidFill>
                <a:latin typeface="Times New Roman" panose="02020603050405020304" pitchFamily="18" charset="0"/>
                <a:cs typeface="Times New Roman" panose="02020603050405020304" pitchFamily="18" charset="0"/>
              </a:rPr>
              <a:t>It helps reduce bias, errors, and privacy risks.</a:t>
            </a:r>
          </a:p>
          <a:p>
            <a:pPr marL="342900" lvl="0" indent="-342900">
              <a:buFont typeface="Arial" panose="020B0604020202020204" pitchFamily="34" charset="0"/>
              <a:buChar char="•"/>
            </a:pPr>
            <a:r>
              <a:rPr lang="en-IN" sz="2400" dirty="0">
                <a:solidFill>
                  <a:srgbClr val="202C8F"/>
                </a:solidFill>
                <a:latin typeface="Times New Roman" panose="02020603050405020304" pitchFamily="18" charset="0"/>
                <a:cs typeface="Times New Roman" panose="02020603050405020304" pitchFamily="18" charset="0"/>
              </a:rPr>
              <a:t>It improves human understanding and trust in AI decisions.</a:t>
            </a:r>
          </a:p>
          <a:p>
            <a:pPr marL="342900" lvl="0" indent="-342900">
              <a:buFont typeface="Arial" panose="020B0604020202020204" pitchFamily="34" charset="0"/>
              <a:buChar char="•"/>
            </a:pPr>
            <a:r>
              <a:rPr lang="en-IN" sz="2400" dirty="0">
                <a:solidFill>
                  <a:srgbClr val="202C8F"/>
                </a:solidFill>
                <a:latin typeface="Times New Roman" panose="02020603050405020304" pitchFamily="18" charset="0"/>
                <a:cs typeface="Times New Roman" panose="02020603050405020304" pitchFamily="18" charset="0"/>
              </a:rPr>
              <a:t>It has a promising future in healthcare, banking, education, and other fields.</a:t>
            </a:r>
          </a:p>
        </p:txBody>
      </p:sp>
    </p:spTree>
    <p:extLst>
      <p:ext uri="{BB962C8B-B14F-4D97-AF65-F5344CB8AC3E}">
        <p14:creationId xmlns:p14="http://schemas.microsoft.com/office/powerpoint/2010/main" val="2498021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1057274"/>
            <a:ext cx="10511627" cy="1012785"/>
          </a:xfrm>
        </p:spPr>
        <p:txBody>
          <a:bodyPr/>
          <a:lstStyle/>
          <a:p>
            <a:r>
              <a:rPr lang="en-US" dirty="0"/>
              <a:t>REFERENCES</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
        <p:nvSpPr>
          <p:cNvPr id="6" name="Content Placeholder 5">
            <a:extLst>
              <a:ext uri="{FF2B5EF4-FFF2-40B4-BE49-F238E27FC236}">
                <a16:creationId xmlns:a16="http://schemas.microsoft.com/office/drawing/2014/main" id="{7A9AE919-AC9A-244D-4E72-46D498EDD9F0}"/>
              </a:ext>
            </a:extLst>
          </p:cNvPr>
          <p:cNvSpPr>
            <a:spLocks noGrp="1"/>
          </p:cNvSpPr>
          <p:nvPr>
            <p:ph sz="quarter" idx="4"/>
          </p:nvPr>
        </p:nvSpPr>
        <p:spPr/>
        <p:txBody>
          <a:bodyPr>
            <a:normAutofit fontScale="25000" lnSpcReduction="20000"/>
          </a:bodyPr>
          <a:lstStyle/>
          <a:p>
            <a:pPr lvl="0"/>
            <a:r>
              <a:rPr lang="en-IN" sz="7400" dirty="0">
                <a:latin typeface="Times New Roman" panose="02020603050405020304" pitchFamily="18" charset="0"/>
                <a:cs typeface="Times New Roman" panose="02020603050405020304" pitchFamily="18" charset="0"/>
              </a:rPr>
              <a:t> Angelov, P. P., et al. (2021). </a:t>
            </a:r>
            <a:r>
              <a:rPr lang="en-IN" sz="7400" b="1" dirty="0">
                <a:latin typeface="Times New Roman" panose="02020603050405020304" pitchFamily="18" charset="0"/>
                <a:cs typeface="Times New Roman" panose="02020603050405020304" pitchFamily="18" charset="0"/>
              </a:rPr>
              <a:t>Explainable Artificial Intelligence: An Analytical Review.</a:t>
            </a:r>
            <a:r>
              <a:rPr lang="en-IN" sz="7400" dirty="0">
                <a:latin typeface="Times New Roman" panose="02020603050405020304" pitchFamily="18" charset="0"/>
                <a:cs typeface="Times New Roman" panose="02020603050405020304" pitchFamily="18" charset="0"/>
              </a:rPr>
              <a:t> </a:t>
            </a:r>
            <a:r>
              <a:rPr lang="en-IN" sz="7400" i="1" dirty="0">
                <a:latin typeface="Times New Roman" panose="02020603050405020304" pitchFamily="18" charset="0"/>
                <a:cs typeface="Times New Roman" panose="02020603050405020304" pitchFamily="18" charset="0"/>
              </a:rPr>
              <a:t>WIREs Data Mining and Knowledge Discovery</a:t>
            </a:r>
            <a:r>
              <a:rPr lang="en-IN" sz="7400" dirty="0">
                <a:latin typeface="Times New Roman" panose="02020603050405020304" pitchFamily="18" charset="0"/>
                <a:cs typeface="Times New Roman" panose="02020603050405020304" pitchFamily="18" charset="0"/>
              </a:rPr>
              <a:t>. </a:t>
            </a:r>
          </a:p>
          <a:p>
            <a:pPr lvl="0"/>
            <a:endParaRPr lang="en-IN" sz="7400" dirty="0">
              <a:latin typeface="Times New Roman" panose="02020603050405020304" pitchFamily="18" charset="0"/>
              <a:cs typeface="Times New Roman" panose="02020603050405020304" pitchFamily="18" charset="0"/>
            </a:endParaRPr>
          </a:p>
          <a:p>
            <a:pPr lvl="0"/>
            <a:r>
              <a:rPr lang="en-IN" sz="7400" dirty="0">
                <a:latin typeface="Times New Roman" panose="02020603050405020304" pitchFamily="18" charset="0"/>
                <a:cs typeface="Times New Roman" panose="02020603050405020304" pitchFamily="18" charset="0"/>
              </a:rPr>
              <a:t>Markus, A. F., Kors, J. A., &amp;  P. R. (2021). </a:t>
            </a:r>
            <a:r>
              <a:rPr lang="en-IN" sz="7400" b="1" dirty="0">
                <a:latin typeface="Times New Roman" panose="02020603050405020304" pitchFamily="18" charset="0"/>
                <a:cs typeface="Times New Roman" panose="02020603050405020304" pitchFamily="18" charset="0"/>
              </a:rPr>
              <a:t>The Role of Explainability in Creating Trustworthy Artificial Intelligence for Health Care.</a:t>
            </a:r>
            <a:r>
              <a:rPr lang="en-IN" sz="7400" dirty="0">
                <a:latin typeface="Times New Roman" panose="02020603050405020304" pitchFamily="18" charset="0"/>
                <a:cs typeface="Times New Roman" panose="02020603050405020304" pitchFamily="18" charset="0"/>
              </a:rPr>
              <a:t> </a:t>
            </a:r>
            <a:r>
              <a:rPr lang="en-IN" sz="7400" i="1" dirty="0">
                <a:latin typeface="Times New Roman" panose="02020603050405020304" pitchFamily="18" charset="0"/>
                <a:cs typeface="Times New Roman" panose="02020603050405020304" pitchFamily="18" charset="0"/>
              </a:rPr>
              <a:t>Journal of Biomedical Informatics</a:t>
            </a:r>
            <a:r>
              <a:rPr lang="en-IN" sz="7400" dirty="0">
                <a:latin typeface="Times New Roman" panose="02020603050405020304" pitchFamily="18" charset="0"/>
                <a:cs typeface="Times New Roman" panose="02020603050405020304" pitchFamily="18" charset="0"/>
              </a:rPr>
              <a:t>.</a:t>
            </a:r>
          </a:p>
          <a:p>
            <a:pPr lvl="0"/>
            <a:endParaRPr lang="en-IN" sz="7400" dirty="0">
              <a:latin typeface="Times New Roman" panose="02020603050405020304" pitchFamily="18" charset="0"/>
              <a:cs typeface="Times New Roman" panose="02020603050405020304" pitchFamily="18" charset="0"/>
            </a:endParaRPr>
          </a:p>
          <a:p>
            <a:pPr lvl="0"/>
            <a:r>
              <a:rPr lang="en-IN" sz="7400" dirty="0">
                <a:latin typeface="Times New Roman" panose="02020603050405020304" pitchFamily="18" charset="0"/>
                <a:cs typeface="Times New Roman" panose="02020603050405020304" pitchFamily="18" charset="0"/>
              </a:rPr>
              <a:t>Li, B., et al. (2021). </a:t>
            </a:r>
            <a:r>
              <a:rPr lang="en-IN" sz="7400" b="1" dirty="0">
                <a:latin typeface="Times New Roman" panose="02020603050405020304" pitchFamily="18" charset="0"/>
                <a:cs typeface="Times New Roman" panose="02020603050405020304" pitchFamily="18" charset="0"/>
              </a:rPr>
              <a:t>Trustworthy AI: From Principles to Practices.</a:t>
            </a:r>
            <a:r>
              <a:rPr lang="en-IN" sz="7400" dirty="0">
                <a:latin typeface="Times New Roman" panose="02020603050405020304" pitchFamily="18" charset="0"/>
                <a:cs typeface="Times New Roman" panose="02020603050405020304" pitchFamily="18" charset="0"/>
              </a:rPr>
              <a:t> </a:t>
            </a:r>
          </a:p>
          <a:p>
            <a:pPr lvl="0"/>
            <a:r>
              <a:rPr lang="en-IN" sz="7400" dirty="0">
                <a:latin typeface="Times New Roman" panose="02020603050405020304" pitchFamily="18" charset="0"/>
                <a:cs typeface="Times New Roman" panose="02020603050405020304" pitchFamily="18" charset="0"/>
              </a:rPr>
              <a:t>NIST (2023). </a:t>
            </a:r>
            <a:r>
              <a:rPr lang="en-IN" sz="7400" b="1" dirty="0">
                <a:latin typeface="Times New Roman" panose="02020603050405020304" pitchFamily="18" charset="0"/>
                <a:cs typeface="Times New Roman" panose="02020603050405020304" pitchFamily="18" charset="0"/>
              </a:rPr>
              <a:t>Artificial Intelligence Risk Management Framework (AI RMF 1.0).</a:t>
            </a:r>
            <a:r>
              <a:rPr lang="en-IN" sz="7400" dirty="0">
                <a:latin typeface="Times New Roman" panose="02020603050405020304" pitchFamily="18" charset="0"/>
                <a:cs typeface="Times New Roman" panose="02020603050405020304" pitchFamily="18" charset="0"/>
              </a:rPr>
              <a:t> National Institute of Standards and Technology. </a:t>
            </a:r>
          </a:p>
          <a:p>
            <a:pPr lvl="0"/>
            <a:endParaRPr lang="en-IN" sz="7400" dirty="0">
              <a:latin typeface="Times New Roman" panose="02020603050405020304" pitchFamily="18" charset="0"/>
              <a:cs typeface="Times New Roman" panose="02020603050405020304" pitchFamily="18" charset="0"/>
            </a:endParaRPr>
          </a:p>
          <a:p>
            <a:pPr lvl="0"/>
            <a:r>
              <a:rPr lang="en-IN" sz="7400" dirty="0">
                <a:latin typeface="Times New Roman" panose="02020603050405020304" pitchFamily="18" charset="0"/>
                <a:cs typeface="Times New Roman" panose="02020603050405020304" pitchFamily="18" charset="0"/>
              </a:rPr>
              <a:t>NIST (2024). </a:t>
            </a:r>
            <a:r>
              <a:rPr lang="en-IN" sz="7400" b="1" dirty="0">
                <a:latin typeface="Times New Roman" panose="02020603050405020304" pitchFamily="18" charset="0"/>
                <a:cs typeface="Times New Roman" panose="02020603050405020304" pitchFamily="18" charset="0"/>
              </a:rPr>
              <a:t>Artificial Intelligence Risk Management Framework: Generative Artificial Intelligence Profile.</a:t>
            </a:r>
            <a:r>
              <a:rPr lang="en-IN" sz="7400" dirty="0">
                <a:latin typeface="Times New Roman" panose="02020603050405020304" pitchFamily="18" charset="0"/>
                <a:cs typeface="Times New Roman" panose="02020603050405020304" pitchFamily="18" charset="0"/>
              </a:rPr>
              <a:t> National Institute of Standards and Technology. </a:t>
            </a:r>
          </a:p>
          <a:p>
            <a:endParaRPr lang="en-IN" dirty="0"/>
          </a:p>
        </p:txBody>
      </p:sp>
    </p:spTree>
    <p:extLst>
      <p:ext uri="{BB962C8B-B14F-4D97-AF65-F5344CB8AC3E}">
        <p14:creationId xmlns:p14="http://schemas.microsoft.com/office/powerpoint/2010/main" val="1686213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3424107" y="-811238"/>
            <a:ext cx="5343786" cy="3957110"/>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{C44A6577-5293-4CB0-8EB4-E9317F1770B6}TF8a9b5915-b8c7-461e-8cdd-693d48b5e32371f7b7e2_win32-4bf0b9a2ea37</Template>
  <TotalTime>58</TotalTime>
  <Words>777</Words>
  <Application>Microsoft Office PowerPoint</Application>
  <PresentationFormat>Widescreen</PresentationFormat>
  <Paragraphs>104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Sabon Next LT</vt:lpstr>
      <vt:lpstr>Times New Roman</vt:lpstr>
      <vt:lpstr>Custom</vt:lpstr>
      <vt:lpstr>Explainable and TRUSTWORTHY AI</vt:lpstr>
      <vt:lpstr>INTRODUCTION TO EMERGING TECHNOLOGY</vt:lpstr>
      <vt:lpstr>        need AND MOTIVATION  to make ai decisions easy to understand and trust.  to reduce bias, errors, and unfair decisions.  to ensure privacy, safety, and security of users.  to increase confidence and acceptance of ai systems.    </vt:lpstr>
      <vt:lpstr>WORKIN PRINCIPLE</vt:lpstr>
      <vt:lpstr>KEY COMPONENTS AND TECHNOLOGY</vt:lpstr>
      <vt:lpstr>APPLICATIONS</vt:lpstr>
      <vt:lpstr>ADVANTAGES AND LIMITATIONS</vt:lpstr>
      <vt:lpstr>RECENT DEVELOPMENTS AND TRENDS</vt:lpstr>
      <vt:lpstr>CHALLENGES AND FUTURE SCOPE</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Tejaswinivatte64@gmail.com</dc:creator>
  <cp:lastModifiedBy>Tejaswinivatte64@gmail.com</cp:lastModifiedBy>
  <cp:revision>3</cp:revision>
  <dcterms:created xsi:type="dcterms:W3CDTF">2026-08-20T16:15:42Z</dcterms:created>
  <dcterms:modified xsi:type="dcterms:W3CDTF">2026-08-28T08:06:05Z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